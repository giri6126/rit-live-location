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ejaVu Sans Bold" charset="1" panose="020B0803030604020204"/>
      <p:regular r:id="rId16"/>
    </p:embeddedFont>
    <p:embeddedFont>
      <p:font typeface="League Spartan" charset="1" panose="00000800000000000000"/>
      <p:regular r:id="rId17"/>
    </p:embeddedFont>
    <p:embeddedFont>
      <p:font typeface="Open Sans" charset="1" panose="020B0606030504020204"/>
      <p:regular r:id="rId18"/>
    </p:embeddedFont>
    <p:embeddedFont>
      <p:font typeface="PT Sans" charset="1" panose="020B0503020203020204"/>
      <p:regular r:id="rId19"/>
    </p:embeddedFont>
    <p:embeddedFont>
      <p:font typeface="PT Sans Bold" charset="1" panose="020B0703020203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6574" y="-2249003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64026" y="8229600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959475" y="2934587"/>
            <a:ext cx="6369050" cy="706798"/>
            <a:chOff x="0" y="0"/>
            <a:chExt cx="1677445" cy="1861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77445" cy="186152"/>
            </a:xfrm>
            <a:custGeom>
              <a:avLst/>
              <a:gdLst/>
              <a:ahLst/>
              <a:cxnLst/>
              <a:rect r="r" b="b" t="t" l="l"/>
              <a:pathLst>
                <a:path h="186152" w="1677445">
                  <a:moveTo>
                    <a:pt x="93076" y="0"/>
                  </a:moveTo>
                  <a:lnTo>
                    <a:pt x="1584369" y="0"/>
                  </a:lnTo>
                  <a:cubicBezTo>
                    <a:pt x="1609054" y="0"/>
                    <a:pt x="1632729" y="9806"/>
                    <a:pt x="1650184" y="27261"/>
                  </a:cubicBezTo>
                  <a:cubicBezTo>
                    <a:pt x="1667639" y="44717"/>
                    <a:pt x="1677445" y="68391"/>
                    <a:pt x="1677445" y="93076"/>
                  </a:cubicBezTo>
                  <a:lnTo>
                    <a:pt x="1677445" y="93076"/>
                  </a:lnTo>
                  <a:cubicBezTo>
                    <a:pt x="1677445" y="117762"/>
                    <a:pt x="1667639" y="141436"/>
                    <a:pt x="1650184" y="158891"/>
                  </a:cubicBezTo>
                  <a:cubicBezTo>
                    <a:pt x="1632729" y="176346"/>
                    <a:pt x="1609054" y="186152"/>
                    <a:pt x="1584369" y="186152"/>
                  </a:cubicBezTo>
                  <a:lnTo>
                    <a:pt x="93076" y="186152"/>
                  </a:lnTo>
                  <a:cubicBezTo>
                    <a:pt x="68391" y="186152"/>
                    <a:pt x="44717" y="176346"/>
                    <a:pt x="27261" y="158891"/>
                  </a:cubicBezTo>
                  <a:cubicBezTo>
                    <a:pt x="9806" y="141436"/>
                    <a:pt x="0" y="117762"/>
                    <a:pt x="0" y="93076"/>
                  </a:cubicBezTo>
                  <a:lnTo>
                    <a:pt x="0" y="93076"/>
                  </a:lnTo>
                  <a:cubicBezTo>
                    <a:pt x="0" y="68391"/>
                    <a:pt x="9806" y="44717"/>
                    <a:pt x="27261" y="27261"/>
                  </a:cubicBezTo>
                  <a:cubicBezTo>
                    <a:pt x="44717" y="9806"/>
                    <a:pt x="68391" y="0"/>
                    <a:pt x="93076" y="0"/>
                  </a:cubicBezTo>
                  <a:close/>
                </a:path>
              </a:pathLst>
            </a:custGeom>
            <a:ln w="38100" cap="rnd">
              <a:solidFill>
                <a:srgbClr val="2B495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677445" cy="22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4114169" y="7280500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66250" y="-4092102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57497" y="5545751"/>
            <a:ext cx="542405" cy="2057400"/>
          </a:xfrm>
          <a:custGeom>
            <a:avLst/>
            <a:gdLst/>
            <a:ahLst/>
            <a:cxnLst/>
            <a:rect r="r" b="b" t="t" l="l"/>
            <a:pathLst>
              <a:path h="2057400" w="542405">
                <a:moveTo>
                  <a:pt x="0" y="0"/>
                </a:moveTo>
                <a:lnTo>
                  <a:pt x="542406" y="0"/>
                </a:lnTo>
                <a:lnTo>
                  <a:pt x="54240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73695" y="1481751"/>
            <a:ext cx="13540610" cy="159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09"/>
              </a:lnSpc>
            </a:pPr>
            <a:r>
              <a:rPr lang="en-US" b="true" sz="9220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DESIGNATHON 1.0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51437" y="4622460"/>
            <a:ext cx="11985126" cy="1429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1"/>
              </a:lnSpc>
            </a:pPr>
            <a:r>
              <a:rPr lang="en-US" sz="4108">
                <a:solidFill>
                  <a:srgbClr val="58849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RIT - BUS LIVE LOCATION AND ARRIVAL TRACKING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988097" y="2760644"/>
            <a:ext cx="542405" cy="2057400"/>
          </a:xfrm>
          <a:custGeom>
            <a:avLst/>
            <a:gdLst/>
            <a:ahLst/>
            <a:cxnLst/>
            <a:rect r="r" b="b" t="t" l="l"/>
            <a:pathLst>
              <a:path h="2057400" w="542405">
                <a:moveTo>
                  <a:pt x="0" y="0"/>
                </a:moveTo>
                <a:lnTo>
                  <a:pt x="542406" y="0"/>
                </a:lnTo>
                <a:lnTo>
                  <a:pt x="54240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891046" y="3018745"/>
            <a:ext cx="2505908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AUTOMATE RIT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1451" y="7710065"/>
            <a:ext cx="11690270" cy="138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6"/>
              </a:lnSpc>
            </a:pPr>
            <a:r>
              <a:rPr lang="en-US" sz="266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GIRIJAN D   -  AIML ‘A’               JEEVA M    -    AIML ‘A’</a:t>
            </a:r>
          </a:p>
          <a:p>
            <a:pPr algn="ctr">
              <a:lnSpc>
                <a:spcPts val="3736"/>
              </a:lnSpc>
            </a:pPr>
            <a:r>
              <a:rPr lang="en-US" sz="266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VARSHANI SV - AIDS ‘F’           VARUSHA A    - AIDS ‘F’</a:t>
            </a:r>
          </a:p>
          <a:p>
            <a:pPr algn="ctr">
              <a:lnSpc>
                <a:spcPts val="3736"/>
              </a:lnSpc>
              <a:spcBef>
                <a:spcPct val="0"/>
              </a:spcBef>
            </a:pPr>
            <a:r>
              <a:rPr lang="en-US" sz="266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VARNA OVIYA V  - AIDS ‘F’                                    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64026" y="8229600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266574" y="1813150"/>
            <a:ext cx="14074655" cy="73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9"/>
              </a:lnSpc>
            </a:pPr>
            <a:r>
              <a:rPr lang="en-US" b="true" sz="4221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PROBLEM STATEMENT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23974" y="3032598"/>
            <a:ext cx="14802539" cy="432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6163" indent="-378081" lvl="1">
              <a:lnSpc>
                <a:spcPts val="4903"/>
              </a:lnSpc>
              <a:buFont typeface="Arial"/>
              <a:buChar char="•"/>
            </a:pPr>
            <a:r>
              <a:rPr lang="en-US" sz="3502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Students dont know the exact bus arrival timings.</a:t>
            </a:r>
          </a:p>
          <a:p>
            <a:pPr algn="just" marL="756163" indent="-378081" lvl="1">
              <a:lnSpc>
                <a:spcPts val="4903"/>
              </a:lnSpc>
              <a:buFont typeface="Arial"/>
              <a:buChar char="•"/>
            </a:pPr>
            <a:r>
              <a:rPr lang="en-US" sz="3502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Long waiting time and uncertainity.</a:t>
            </a:r>
          </a:p>
          <a:p>
            <a:pPr algn="just" marL="756163" indent="-378081" lvl="1">
              <a:lnSpc>
                <a:spcPts val="4903"/>
              </a:lnSpc>
              <a:buFont typeface="Arial"/>
              <a:buChar char="•"/>
            </a:pPr>
            <a:r>
              <a:rPr lang="en-US" sz="3502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No real-time tracking system.</a:t>
            </a:r>
          </a:p>
          <a:p>
            <a:pPr algn="just" marL="756163" indent="-378081" lvl="1">
              <a:lnSpc>
                <a:spcPts val="4903"/>
              </a:lnSpc>
              <a:buFont typeface="Arial"/>
              <a:buChar char="•"/>
            </a:pPr>
            <a:r>
              <a:rPr lang="en-US" sz="3502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No centralized transport monitoring system.</a:t>
            </a:r>
          </a:p>
          <a:p>
            <a:pPr algn="just">
              <a:lnSpc>
                <a:spcPts val="4903"/>
              </a:lnSpc>
            </a:pPr>
          </a:p>
          <a:p>
            <a:pPr algn="just">
              <a:lnSpc>
                <a:spcPts val="4903"/>
              </a:lnSpc>
            </a:pPr>
          </a:p>
          <a:p>
            <a:pPr algn="just">
              <a:lnSpc>
                <a:spcPts val="4903"/>
              </a:lnSpc>
            </a:pPr>
            <a:r>
              <a:rPr lang="en-US" sz="3502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⟶ This leads to inefficiency and frustration.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4114169" y="7280500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66250" y="-4092102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66574" y="-2249003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461504" y="9153525"/>
            <a:ext cx="1316949" cy="87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b="true" sz="5110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01</a:t>
            </a:r>
          </a:p>
        </p:txBody>
      </p:sp>
      <p:sp>
        <p:nvSpPr>
          <p:cNvPr name="AutoShape 9" id="9"/>
          <p:cNvSpPr/>
          <p:nvPr/>
        </p:nvSpPr>
        <p:spPr>
          <a:xfrm>
            <a:off x="6462792" y="9623808"/>
            <a:ext cx="6813138" cy="0"/>
          </a:xfrm>
          <a:prstGeom prst="line">
            <a:avLst/>
          </a:prstGeom>
          <a:ln cap="flat" w="38100">
            <a:solidFill>
              <a:srgbClr val="58849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64026" y="8229600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92045" y="1222844"/>
            <a:ext cx="6979562" cy="93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86"/>
              </a:lnSpc>
            </a:pPr>
            <a:r>
              <a:rPr lang="en-US" b="true" sz="5418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OUR SOLUTION: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02894" y="2246722"/>
            <a:ext cx="9173036" cy="514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8"/>
              </a:lnSpc>
            </a:pPr>
            <a:r>
              <a:rPr lang="en-US" sz="3020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We develop a Real-time Bus Tracking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02894" y="3051648"/>
            <a:ext cx="850320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F232E"/>
                </a:solidFill>
                <a:latin typeface="PT Sans Bold"/>
                <a:ea typeface="PT Sans Bold"/>
                <a:cs typeface="PT Sans Bold"/>
                <a:sym typeface="PT Sans Bold"/>
              </a:rPr>
              <a:t>KEY FEATURES: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83838" y="3818728"/>
            <a:ext cx="8503202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Live Bus Location tracking.</a:t>
            </a: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Route Management.</a:t>
            </a: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Arrival Time Logging.</a:t>
            </a: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Admin Control Panel.</a:t>
            </a: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Student Viewing Interface.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114169" y="7280500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66250" y="-4092102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266574" y="-2249003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461504" y="9153525"/>
            <a:ext cx="1316949" cy="87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b="true" sz="5110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02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462792" y="9623808"/>
            <a:ext cx="6813138" cy="0"/>
          </a:xfrm>
          <a:prstGeom prst="line">
            <a:avLst/>
          </a:prstGeom>
          <a:ln cap="flat" w="38100">
            <a:solidFill>
              <a:srgbClr val="58849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9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85126" y="2621428"/>
            <a:ext cx="9729126" cy="6151574"/>
            <a:chOff x="0" y="0"/>
            <a:chExt cx="2562404" cy="16201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2404" cy="1620168"/>
            </a:xfrm>
            <a:custGeom>
              <a:avLst/>
              <a:gdLst/>
              <a:ahLst/>
              <a:cxnLst/>
              <a:rect r="r" b="b" t="t" l="l"/>
              <a:pathLst>
                <a:path h="1620168" w="2562404">
                  <a:moveTo>
                    <a:pt x="0" y="0"/>
                  </a:moveTo>
                  <a:lnTo>
                    <a:pt x="2562404" y="0"/>
                  </a:lnTo>
                  <a:lnTo>
                    <a:pt x="2562404" y="1620168"/>
                  </a:lnTo>
                  <a:lnTo>
                    <a:pt x="0" y="1620168"/>
                  </a:lnTo>
                  <a:close/>
                </a:path>
              </a:pathLst>
            </a:custGeom>
            <a:solidFill>
              <a:srgbClr val="2B49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62404" cy="1658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2621428"/>
            <a:ext cx="9729126" cy="6151574"/>
            <a:chOff x="0" y="0"/>
            <a:chExt cx="2562404" cy="16201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62404" cy="1620168"/>
            </a:xfrm>
            <a:custGeom>
              <a:avLst/>
              <a:gdLst/>
              <a:ahLst/>
              <a:cxnLst/>
              <a:rect r="r" b="b" t="t" l="l"/>
              <a:pathLst>
                <a:path h="1620168" w="2562404">
                  <a:moveTo>
                    <a:pt x="0" y="0"/>
                  </a:moveTo>
                  <a:lnTo>
                    <a:pt x="2562404" y="0"/>
                  </a:lnTo>
                  <a:lnTo>
                    <a:pt x="2562404" y="1620168"/>
                  </a:lnTo>
                  <a:lnTo>
                    <a:pt x="0" y="1620168"/>
                  </a:lnTo>
                  <a:close/>
                </a:path>
              </a:pathLst>
            </a:custGeom>
            <a:solidFill>
              <a:srgbClr val="0F232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62404" cy="1658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592045" y="866775"/>
            <a:ext cx="11103910" cy="147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69"/>
              </a:lnSpc>
            </a:pPr>
            <a:r>
              <a:rPr lang="en-US" b="true" sz="8620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OBJECTIVES: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3210" y="3694526"/>
            <a:ext cx="6296275" cy="4442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1234" indent="-340617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Provide real-time location of buses</a:t>
            </a:r>
          </a:p>
          <a:p>
            <a:pPr algn="just" marL="681234" indent="-340617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Reduce waiting time for students</a:t>
            </a:r>
          </a:p>
          <a:p>
            <a:pPr algn="just" marL="681234" indent="-340617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Improves transport management efficiency</a:t>
            </a:r>
          </a:p>
          <a:p>
            <a:pPr algn="just" marL="681234" indent="-340617" lvl="1">
              <a:lnSpc>
                <a:spcPts val="4417"/>
              </a:lnSpc>
              <a:buFont typeface="Arial"/>
              <a:buChar char="•"/>
            </a:pPr>
            <a:r>
              <a:rPr lang="en-US" sz="3155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Enable admins to monitor all buses centrally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29953" y="3694526"/>
            <a:ext cx="6729347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Maintain travel history and logs</a:t>
            </a:r>
          </a:p>
          <a:p>
            <a:pPr algn="just">
              <a:lnSpc>
                <a:spcPts val="3919"/>
              </a:lnSpc>
            </a:pP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Communicating through APIs</a:t>
            </a:r>
          </a:p>
          <a:p>
            <a:pPr algn="just">
              <a:lnSpc>
                <a:spcPts val="3919"/>
              </a:lnSpc>
            </a:pP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Route Visualization</a:t>
            </a:r>
          </a:p>
          <a:p>
            <a:pPr algn="just">
              <a:lnSpc>
                <a:spcPts val="3919"/>
              </a:lnSpc>
            </a:pP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PT Sans Bold"/>
                <a:ea typeface="PT Sans Bold"/>
                <a:cs typeface="PT Sans Bold"/>
                <a:sym typeface="PT Sans Bold"/>
              </a:rPr>
              <a:t>Real-time data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61504" y="9153525"/>
            <a:ext cx="1316949" cy="87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b="true" sz="5110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03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462792" y="9623808"/>
            <a:ext cx="6813138" cy="0"/>
          </a:xfrm>
          <a:prstGeom prst="line">
            <a:avLst/>
          </a:prstGeom>
          <a:ln cap="flat" w="38100">
            <a:solidFill>
              <a:srgbClr val="58849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64026" y="8229600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00536" y="1278855"/>
            <a:ext cx="13086928" cy="105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6"/>
              </a:lnSpc>
            </a:pPr>
            <a:r>
              <a:rPr lang="en-US" sz="6118" b="true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SYSTEM ARCHITECTURE: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114169" y="7280500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66250" y="-4092102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266574" y="-2249003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6462792" y="9623808"/>
            <a:ext cx="6813138" cy="0"/>
          </a:xfrm>
          <a:prstGeom prst="line">
            <a:avLst/>
          </a:prstGeom>
          <a:ln cap="flat" w="38100">
            <a:solidFill>
              <a:srgbClr val="58849A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22289" y="3496228"/>
            <a:ext cx="825577" cy="349686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799798" y="4435839"/>
            <a:ext cx="1095469" cy="464003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489197" y="3401831"/>
            <a:ext cx="8294845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F232E"/>
                </a:solidFill>
                <a:latin typeface="PT Sans Bold"/>
                <a:ea typeface="PT Sans Bold"/>
                <a:cs typeface="PT Sans Bold"/>
                <a:sym typeface="PT Sans Bold"/>
              </a:rPr>
              <a:t>Frontend          </a:t>
            </a:r>
            <a:r>
              <a:rPr lang="en-US" sz="2799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User Interface (map + data)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F232E"/>
                </a:solidFill>
                <a:latin typeface="PT Sans Bold"/>
                <a:ea typeface="PT Sans Bold"/>
                <a:cs typeface="PT Sans Bold"/>
                <a:sym typeface="PT Sans Bold"/>
              </a:rPr>
              <a:t>Backend           </a:t>
            </a:r>
            <a:r>
              <a:rPr lang="en-US" sz="2799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Handles requests and logic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F232E"/>
                </a:solidFill>
                <a:latin typeface="PT Sans Bold"/>
                <a:ea typeface="PT Sans Bold"/>
                <a:cs typeface="PT Sans Bold"/>
                <a:sym typeface="PT Sans Bold"/>
              </a:rPr>
              <a:t>Database         </a:t>
            </a:r>
            <a:r>
              <a:rPr lang="en-US" sz="2799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   Stores buses, routes, locations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F232E"/>
                </a:solidFill>
                <a:latin typeface="PT Sans Bold"/>
                <a:ea typeface="PT Sans Bold"/>
                <a:cs typeface="PT Sans Bold"/>
                <a:sym typeface="PT Sans Bold"/>
              </a:rPr>
              <a:t>Flow : </a:t>
            </a:r>
            <a:r>
              <a:rPr lang="en-US" sz="2799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User ⟶ API ⟶ Database ⟶ Response  ⟶ UI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61504" y="9153525"/>
            <a:ext cx="1316949" cy="87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b="true" sz="5110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04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799798" y="5469739"/>
            <a:ext cx="1095469" cy="4640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64026" y="8229600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55759" y="1446729"/>
            <a:ext cx="8350157" cy="90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8"/>
              </a:lnSpc>
            </a:pPr>
            <a:r>
              <a:rPr lang="en-US" sz="5227" b="true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TECHNOLOGY STACK: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114169" y="7280500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66250" y="-4092102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266574" y="-2249003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6462792" y="9623808"/>
            <a:ext cx="6813138" cy="0"/>
          </a:xfrm>
          <a:prstGeom prst="line">
            <a:avLst/>
          </a:prstGeom>
          <a:ln cap="flat" w="38100">
            <a:solidFill>
              <a:srgbClr val="5884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8003909" y="2968849"/>
            <a:ext cx="7449076" cy="4970565"/>
          </a:xfrm>
          <a:custGeom>
            <a:avLst/>
            <a:gdLst/>
            <a:ahLst/>
            <a:cxnLst/>
            <a:rect r="r" b="b" t="t" l="l"/>
            <a:pathLst>
              <a:path h="4970565" w="7449076">
                <a:moveTo>
                  <a:pt x="0" y="0"/>
                </a:moveTo>
                <a:lnTo>
                  <a:pt x="7449075" y="0"/>
                </a:lnTo>
                <a:lnTo>
                  <a:pt x="7449075" y="4970565"/>
                </a:lnTo>
                <a:lnTo>
                  <a:pt x="0" y="49705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23974" y="2335343"/>
            <a:ext cx="7105641" cy="6922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1"/>
              </a:lnSpc>
            </a:pPr>
            <a:r>
              <a:rPr lang="en-US" sz="2801" b="true">
                <a:solidFill>
                  <a:srgbClr val="0F232E"/>
                </a:solidFill>
                <a:latin typeface="PT Sans Bold"/>
                <a:ea typeface="PT Sans Bold"/>
                <a:cs typeface="PT Sans Bold"/>
                <a:sym typeface="PT Sans Bold"/>
              </a:rPr>
              <a:t>Frontend :</a:t>
            </a:r>
          </a:p>
          <a:p>
            <a:pPr algn="just" marL="604762" indent="-302381" lvl="1">
              <a:lnSpc>
                <a:spcPts val="3921"/>
              </a:lnSpc>
              <a:buFont typeface="Arial"/>
              <a:buChar char="•"/>
            </a:pPr>
            <a:r>
              <a:rPr lang="en-US" sz="2801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HTML</a:t>
            </a:r>
          </a:p>
          <a:p>
            <a:pPr algn="just" marL="604762" indent="-302381" lvl="1">
              <a:lnSpc>
                <a:spcPts val="3921"/>
              </a:lnSpc>
              <a:buFont typeface="Arial"/>
              <a:buChar char="•"/>
            </a:pPr>
            <a:r>
              <a:rPr lang="en-US" sz="2801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CSS </a:t>
            </a:r>
          </a:p>
          <a:p>
            <a:pPr algn="just" marL="604762" indent="-302381" lvl="1">
              <a:lnSpc>
                <a:spcPts val="3921"/>
              </a:lnSpc>
              <a:buFont typeface="Arial"/>
              <a:buChar char="•"/>
            </a:pPr>
            <a:r>
              <a:rPr lang="en-US" sz="2801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JavaScript</a:t>
            </a:r>
          </a:p>
          <a:p>
            <a:pPr algn="just">
              <a:lnSpc>
                <a:spcPts val="3921"/>
              </a:lnSpc>
            </a:pPr>
          </a:p>
          <a:p>
            <a:pPr algn="just">
              <a:lnSpc>
                <a:spcPts val="3921"/>
              </a:lnSpc>
            </a:pPr>
            <a:r>
              <a:rPr lang="en-US" sz="2801" b="true">
                <a:solidFill>
                  <a:srgbClr val="0F232E"/>
                </a:solidFill>
                <a:latin typeface="PT Sans Bold"/>
                <a:ea typeface="PT Sans Bold"/>
                <a:cs typeface="PT Sans Bold"/>
                <a:sym typeface="PT Sans Bold"/>
              </a:rPr>
              <a:t>Backend : </a:t>
            </a:r>
          </a:p>
          <a:p>
            <a:pPr algn="just" marL="604762" indent="-302381" lvl="1">
              <a:lnSpc>
                <a:spcPts val="3921"/>
              </a:lnSpc>
              <a:buFont typeface="Arial"/>
              <a:buChar char="•"/>
            </a:pPr>
            <a:r>
              <a:rPr lang="en-US" sz="2801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Python (Flask)</a:t>
            </a:r>
          </a:p>
          <a:p>
            <a:pPr algn="just">
              <a:lnSpc>
                <a:spcPts val="3921"/>
              </a:lnSpc>
            </a:pPr>
          </a:p>
          <a:p>
            <a:pPr algn="just">
              <a:lnSpc>
                <a:spcPts val="3921"/>
              </a:lnSpc>
            </a:pPr>
            <a:r>
              <a:rPr lang="en-US" sz="2801" b="true">
                <a:solidFill>
                  <a:srgbClr val="0F232E"/>
                </a:solidFill>
                <a:latin typeface="PT Sans Bold"/>
                <a:ea typeface="PT Sans Bold"/>
                <a:cs typeface="PT Sans Bold"/>
                <a:sym typeface="PT Sans Bold"/>
              </a:rPr>
              <a:t>Database :</a:t>
            </a:r>
          </a:p>
          <a:p>
            <a:pPr algn="just" marL="604762" indent="-302381" lvl="1">
              <a:lnSpc>
                <a:spcPts val="3921"/>
              </a:lnSpc>
              <a:buFont typeface="Arial"/>
              <a:buChar char="•"/>
            </a:pPr>
            <a:r>
              <a:rPr lang="en-US" sz="2801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MySOL</a:t>
            </a:r>
          </a:p>
          <a:p>
            <a:pPr algn="just">
              <a:lnSpc>
                <a:spcPts val="3921"/>
              </a:lnSpc>
            </a:pPr>
          </a:p>
          <a:p>
            <a:pPr algn="just">
              <a:lnSpc>
                <a:spcPts val="3921"/>
              </a:lnSpc>
            </a:pPr>
            <a:r>
              <a:rPr lang="en-US" sz="2801" b="true">
                <a:solidFill>
                  <a:srgbClr val="0F232E"/>
                </a:solidFill>
                <a:latin typeface="PT Sans Bold"/>
                <a:ea typeface="PT Sans Bold"/>
                <a:cs typeface="PT Sans Bold"/>
                <a:sym typeface="PT Sans Bold"/>
              </a:rPr>
              <a:t>Tools :</a:t>
            </a:r>
          </a:p>
          <a:p>
            <a:pPr algn="just" marL="604762" indent="-302381" lvl="1">
              <a:lnSpc>
                <a:spcPts val="3921"/>
              </a:lnSpc>
              <a:buFont typeface="Arial"/>
              <a:buChar char="•"/>
            </a:pPr>
            <a:r>
              <a:rPr lang="en-US" sz="2801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VS Code</a:t>
            </a:r>
          </a:p>
          <a:p>
            <a:pPr algn="just" marL="604762" indent="-302381" lvl="1">
              <a:lnSpc>
                <a:spcPts val="3921"/>
              </a:lnSpc>
              <a:buFont typeface="Arial"/>
              <a:buChar char="•"/>
            </a:pPr>
            <a:r>
              <a:rPr lang="en-US" sz="2801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Thunder Client (API Testing)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61504" y="9153525"/>
            <a:ext cx="1316949" cy="87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b="true" sz="5110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64026" y="8229600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69990" y="1348342"/>
            <a:ext cx="7752428" cy="943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b="true" sz="5543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DATABASE DESIGN: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69990" y="2608418"/>
            <a:ext cx="8904472" cy="593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99"/>
              </a:lnSpc>
            </a:pPr>
            <a:r>
              <a:rPr lang="en-US" sz="4213" b="true">
                <a:solidFill>
                  <a:srgbClr val="0F232E"/>
                </a:solidFill>
                <a:latin typeface="PT Sans Bold"/>
                <a:ea typeface="PT Sans Bold"/>
                <a:cs typeface="PT Sans Bold"/>
                <a:sym typeface="PT Sans Bold"/>
              </a:rPr>
              <a:t>Tables Used : </a:t>
            </a:r>
          </a:p>
          <a:p>
            <a:pPr algn="just">
              <a:lnSpc>
                <a:spcPts val="5899"/>
              </a:lnSpc>
            </a:pPr>
          </a:p>
          <a:p>
            <a:pPr algn="just" marL="909740" indent="-454870" lvl="1">
              <a:lnSpc>
                <a:spcPts val="5899"/>
              </a:lnSpc>
              <a:buFont typeface="Arial"/>
              <a:buChar char="•"/>
            </a:pPr>
            <a:r>
              <a:rPr lang="en-US" sz="4213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buses</a:t>
            </a:r>
          </a:p>
          <a:p>
            <a:pPr algn="just" marL="909740" indent="-454870" lvl="1">
              <a:lnSpc>
                <a:spcPts val="5899"/>
              </a:lnSpc>
              <a:buFont typeface="Arial"/>
              <a:buChar char="•"/>
            </a:pPr>
            <a:r>
              <a:rPr lang="en-US" sz="4213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routes</a:t>
            </a:r>
          </a:p>
          <a:p>
            <a:pPr algn="just" marL="909740" indent="-454870" lvl="1">
              <a:lnSpc>
                <a:spcPts val="5899"/>
              </a:lnSpc>
              <a:buFont typeface="Arial"/>
              <a:buChar char="•"/>
            </a:pPr>
            <a:r>
              <a:rPr lang="en-US" sz="4213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live_locations</a:t>
            </a:r>
          </a:p>
          <a:p>
            <a:pPr algn="just" marL="909740" indent="-454870" lvl="1">
              <a:lnSpc>
                <a:spcPts val="5899"/>
              </a:lnSpc>
              <a:buFont typeface="Arial"/>
              <a:buChar char="•"/>
            </a:pPr>
            <a:r>
              <a:rPr lang="en-US" sz="4213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arrival_logs</a:t>
            </a:r>
          </a:p>
          <a:p>
            <a:pPr algn="just">
              <a:lnSpc>
                <a:spcPts val="5899"/>
              </a:lnSpc>
            </a:pPr>
          </a:p>
          <a:p>
            <a:pPr algn="just">
              <a:lnSpc>
                <a:spcPts val="589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4114169" y="7280500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66250" y="-4092102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66574" y="-2249003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461504" y="9153525"/>
            <a:ext cx="1316949" cy="87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b="true" sz="5110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06</a:t>
            </a:r>
          </a:p>
        </p:txBody>
      </p:sp>
      <p:sp>
        <p:nvSpPr>
          <p:cNvPr name="AutoShape 9" id="9"/>
          <p:cNvSpPr/>
          <p:nvPr/>
        </p:nvSpPr>
        <p:spPr>
          <a:xfrm>
            <a:off x="6462792" y="9623808"/>
            <a:ext cx="6813138" cy="0"/>
          </a:xfrm>
          <a:prstGeom prst="line">
            <a:avLst/>
          </a:prstGeom>
          <a:ln cap="flat" w="38100">
            <a:solidFill>
              <a:srgbClr val="58849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9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64776" y="949551"/>
            <a:ext cx="7779287" cy="103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55"/>
              </a:lnSpc>
            </a:pPr>
            <a:r>
              <a:rPr lang="en-US" b="true" sz="6039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HOW IT WORKS: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2621428"/>
            <a:ext cx="18288000" cy="6151574"/>
            <a:chOff x="0" y="0"/>
            <a:chExt cx="4816593" cy="16201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620168"/>
            </a:xfrm>
            <a:custGeom>
              <a:avLst/>
              <a:gdLst/>
              <a:ahLst/>
              <a:cxnLst/>
              <a:rect r="r" b="b" t="t" l="l"/>
              <a:pathLst>
                <a:path h="162016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20168"/>
                  </a:lnTo>
                  <a:lnTo>
                    <a:pt x="0" y="1620168"/>
                  </a:lnTo>
                  <a:close/>
                </a:path>
              </a:pathLst>
            </a:custGeom>
            <a:solidFill>
              <a:srgbClr val="2B495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658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79209" y="2940160"/>
            <a:ext cx="7687586" cy="389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97917" indent="-398959" lvl="1">
              <a:lnSpc>
                <a:spcPts val="5174"/>
              </a:lnSpc>
              <a:buAutoNum type="arabicPeriod" startAt="1"/>
            </a:pPr>
            <a:r>
              <a:rPr lang="en-US" sz="3695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Bus sends live location</a:t>
            </a:r>
          </a:p>
          <a:p>
            <a:pPr algn="just" marL="797917" indent="-398959" lvl="1">
              <a:lnSpc>
                <a:spcPts val="5174"/>
              </a:lnSpc>
              <a:buAutoNum type="arabicPeriod" startAt="1"/>
            </a:pPr>
            <a:r>
              <a:rPr lang="en-US" sz="3695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Stored in live_locations table</a:t>
            </a:r>
          </a:p>
          <a:p>
            <a:pPr algn="just" marL="797917" indent="-398959" lvl="1">
              <a:lnSpc>
                <a:spcPts val="5174"/>
              </a:lnSpc>
              <a:buAutoNum type="arabicPeriod" startAt="1"/>
            </a:pPr>
            <a:r>
              <a:rPr lang="en-US" sz="3695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Backend calculates distance</a:t>
            </a:r>
          </a:p>
          <a:p>
            <a:pPr algn="just" marL="797917" indent="-398959" lvl="1">
              <a:lnSpc>
                <a:spcPts val="5174"/>
              </a:lnSpc>
              <a:buAutoNum type="arabicPeriod" startAt="1"/>
            </a:pPr>
            <a:r>
              <a:rPr lang="en-US" sz="3695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Uses Haversine Formula</a:t>
            </a:r>
          </a:p>
          <a:p>
            <a:pPr algn="just" marL="797917" indent="-398959" lvl="1">
              <a:lnSpc>
                <a:spcPts val="5174"/>
              </a:lnSpc>
              <a:buAutoNum type="arabicPeriod" startAt="1"/>
            </a:pPr>
            <a:r>
              <a:rPr lang="en-US" sz="3695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Predicts arrival time</a:t>
            </a:r>
          </a:p>
          <a:p>
            <a:pPr algn="just" marL="797917" indent="-398959" lvl="1">
              <a:lnSpc>
                <a:spcPts val="5174"/>
              </a:lnSpc>
              <a:buAutoNum type="arabicPeriod" startAt="1"/>
            </a:pPr>
            <a:r>
              <a:rPr lang="en-US" sz="3695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Displays to user 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61504" y="9153525"/>
            <a:ext cx="1316949" cy="87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b="true" sz="5110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07</a:t>
            </a:r>
          </a:p>
        </p:txBody>
      </p:sp>
      <p:sp>
        <p:nvSpPr>
          <p:cNvPr name="AutoShape 8" id="8"/>
          <p:cNvSpPr/>
          <p:nvPr/>
        </p:nvSpPr>
        <p:spPr>
          <a:xfrm>
            <a:off x="6462792" y="9623808"/>
            <a:ext cx="6813138" cy="0"/>
          </a:xfrm>
          <a:prstGeom prst="line">
            <a:avLst/>
          </a:prstGeom>
          <a:ln cap="flat" w="38100">
            <a:solidFill>
              <a:srgbClr val="58849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64026" y="8229600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45563" y="1414404"/>
            <a:ext cx="11015941" cy="112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3"/>
              </a:lnSpc>
            </a:pPr>
            <a:r>
              <a:rPr lang="en-US" b="true" sz="6545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IMPACTS &amp; BENEFITS: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28777" y="2708372"/>
            <a:ext cx="12830446" cy="4813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5422" indent="-327711" lvl="1">
              <a:lnSpc>
                <a:spcPts val="4250"/>
              </a:lnSpc>
              <a:buFont typeface="Arial"/>
              <a:buChar char="•"/>
            </a:pPr>
            <a:r>
              <a:rPr lang="en-US" sz="3035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Reduces waiting time</a:t>
            </a:r>
          </a:p>
          <a:p>
            <a:pPr algn="just" marL="655422" indent="-327711" lvl="1">
              <a:lnSpc>
                <a:spcPts val="4250"/>
              </a:lnSpc>
              <a:buFont typeface="Arial"/>
              <a:buChar char="•"/>
            </a:pPr>
            <a:r>
              <a:rPr lang="en-US" sz="3035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Improves transport planning</a:t>
            </a:r>
          </a:p>
          <a:p>
            <a:pPr algn="just" marL="655422" indent="-327711" lvl="1">
              <a:lnSpc>
                <a:spcPts val="4250"/>
              </a:lnSpc>
              <a:buFont typeface="Arial"/>
              <a:buChar char="•"/>
            </a:pPr>
            <a:r>
              <a:rPr lang="en-US" sz="3035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Helps staff and students</a:t>
            </a:r>
          </a:p>
          <a:p>
            <a:pPr algn="just" marL="655422" indent="-327711" lvl="1">
              <a:lnSpc>
                <a:spcPts val="4250"/>
              </a:lnSpc>
              <a:buFont typeface="Arial"/>
              <a:buChar char="•"/>
            </a:pPr>
            <a:r>
              <a:rPr lang="en-US" sz="3035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Scalable for smart cities</a:t>
            </a:r>
          </a:p>
          <a:p>
            <a:pPr algn="just" marL="655422" indent="-327711" lvl="1">
              <a:lnSpc>
                <a:spcPts val="4250"/>
              </a:lnSpc>
              <a:buFont typeface="Arial"/>
              <a:buChar char="•"/>
            </a:pPr>
            <a:r>
              <a:rPr lang="en-US" sz="3035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Supports data-driven decision</a:t>
            </a:r>
          </a:p>
          <a:p>
            <a:pPr algn="just">
              <a:lnSpc>
                <a:spcPts val="4250"/>
              </a:lnSpc>
            </a:pPr>
          </a:p>
          <a:p>
            <a:pPr algn="just">
              <a:lnSpc>
                <a:spcPts val="4250"/>
              </a:lnSpc>
            </a:pPr>
            <a:r>
              <a:rPr lang="en-US" sz="3035" b="true">
                <a:solidFill>
                  <a:srgbClr val="0F232E"/>
                </a:solidFill>
                <a:latin typeface="PT Sans Bold"/>
                <a:ea typeface="PT Sans Bold"/>
                <a:cs typeface="PT Sans Bold"/>
                <a:sym typeface="PT Sans Bold"/>
              </a:rPr>
              <a:t>Conclusion :</a:t>
            </a:r>
          </a:p>
          <a:p>
            <a:pPr algn="just">
              <a:lnSpc>
                <a:spcPts val="4250"/>
              </a:lnSpc>
            </a:pPr>
          </a:p>
          <a:p>
            <a:pPr algn="just">
              <a:lnSpc>
                <a:spcPts val="4250"/>
              </a:lnSpc>
            </a:pPr>
            <a:r>
              <a:rPr lang="en-US" sz="3035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This system makes </a:t>
            </a:r>
            <a:r>
              <a:rPr lang="en-US" sz="3035" b="true">
                <a:solidFill>
                  <a:srgbClr val="0F232E"/>
                </a:solidFill>
                <a:latin typeface="PT Sans Bold"/>
                <a:ea typeface="PT Sans Bold"/>
                <a:cs typeface="PT Sans Bold"/>
                <a:sym typeface="PT Sans Bold"/>
              </a:rPr>
              <a:t>campus transport smart, efficient and reliable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4114169" y="7280500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66250" y="-4092102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266574" y="-2249003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6462792" y="9623808"/>
            <a:ext cx="6813138" cy="0"/>
          </a:xfrm>
          <a:prstGeom prst="line">
            <a:avLst/>
          </a:prstGeom>
          <a:ln cap="flat" w="38100">
            <a:solidFill>
              <a:srgbClr val="5884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3461504" y="9153525"/>
            <a:ext cx="1316949" cy="87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b="true" sz="5110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64026" y="8229600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53652" y="4050984"/>
            <a:ext cx="14780696" cy="1965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65"/>
              </a:lnSpc>
            </a:pPr>
            <a:r>
              <a:rPr lang="en-US" b="true" sz="11475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THA</a:t>
            </a:r>
            <a:r>
              <a:rPr lang="en-US" b="true" sz="11475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114169" y="7280500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66250" y="-4092102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266574" y="-2249003"/>
            <a:ext cx="4590548" cy="4114800"/>
          </a:xfrm>
          <a:custGeom>
            <a:avLst/>
            <a:gdLst/>
            <a:ahLst/>
            <a:cxnLst/>
            <a:rect r="r" b="b" t="t" l="l"/>
            <a:pathLst>
              <a:path h="4114800" w="4590548">
                <a:moveTo>
                  <a:pt x="0" y="0"/>
                </a:moveTo>
                <a:lnTo>
                  <a:pt x="4590548" y="0"/>
                </a:lnTo>
                <a:lnTo>
                  <a:pt x="45905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7497" y="5507354"/>
            <a:ext cx="542405" cy="2057400"/>
          </a:xfrm>
          <a:custGeom>
            <a:avLst/>
            <a:gdLst/>
            <a:ahLst/>
            <a:cxnLst/>
            <a:rect r="r" b="b" t="t" l="l"/>
            <a:pathLst>
              <a:path h="2057400" w="542405">
                <a:moveTo>
                  <a:pt x="0" y="0"/>
                </a:moveTo>
                <a:lnTo>
                  <a:pt x="542406" y="0"/>
                </a:lnTo>
                <a:lnTo>
                  <a:pt x="54240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988097" y="2722246"/>
            <a:ext cx="542405" cy="2057400"/>
          </a:xfrm>
          <a:custGeom>
            <a:avLst/>
            <a:gdLst/>
            <a:ahLst/>
            <a:cxnLst/>
            <a:rect r="r" b="b" t="t" l="l"/>
            <a:pathLst>
              <a:path h="2057400" w="542405">
                <a:moveTo>
                  <a:pt x="0" y="0"/>
                </a:moveTo>
                <a:lnTo>
                  <a:pt x="542406" y="0"/>
                </a:lnTo>
                <a:lnTo>
                  <a:pt x="54240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DAHCBCrmXnk</dc:identifier>
  <dcterms:modified xsi:type="dcterms:W3CDTF">2011-08-01T06:04:30Z</dcterms:modified>
  <cp:revision>1</cp:revision>
  <dc:title>Blue Minimalist Professional Presentation</dc:title>
</cp:coreProperties>
</file>